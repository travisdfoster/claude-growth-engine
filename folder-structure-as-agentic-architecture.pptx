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15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0" y="-914400"/>
            <a:ext cx="5943600" cy="5029200"/>
          </a:xfrm>
          <a:prstGeom prst="rect">
            <a:avLst/>
          </a:prstGeom>
          <a:solidFill>
            <a:srgbClr val="1A25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3317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spc="220">
                <a:solidFill>
                  <a:srgbClr val="FFAA22"/>
                </a:solidFill>
                <a:latin typeface="Work Sans"/>
              </a:rPr>
              <a:t>CERKL WORKSPACE · TRAVIS FOSTER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697480"/>
            <a:ext cx="10972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400" b="1">
                <a:solidFill>
                  <a:srgbClr val="FFFFFF"/>
                </a:solidFill>
                <a:latin typeface="Work Sans"/>
              </a:rPr>
              <a:t>Folder Structure as </a:t>
            </a:r>
            <a:r>
              <a:rPr sz="6400" b="1">
                <a:solidFill>
                  <a:srgbClr val="FFAA22"/>
                </a:solidFill>
                <a:latin typeface="Work Sans"/>
              </a:rPr>
              <a:t>Agentic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804672" y="4617720"/>
            <a:ext cx="114300" cy="868680"/>
          </a:xfrm>
          <a:prstGeom prst="rect">
            <a:avLst/>
          </a:prstGeom>
          <a:solidFill>
            <a:srgbClr val="FFA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4663440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00" b="0">
                <a:solidFill>
                  <a:srgbClr val="B7B7CC"/>
                </a:solidFill>
                <a:latin typeface="Work Sans"/>
              </a:rPr>
              <a:t>How plain markdown — routers, context, and skills — composes into a working multi-agent system. No code, no agent classes; English is the routing language.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26364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spc="150">
                <a:solidFill>
                  <a:srgbClr val="8686A0"/>
                </a:solidFill>
                <a:latin typeface="Work Sans"/>
              </a:rPr>
              <a:t>GITHUB.COM/TRAVISDFOSTER/CERKL-CLAUDE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15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spc="220">
                <a:solidFill>
                  <a:srgbClr val="FFAA22"/>
                </a:solidFill>
                <a:latin typeface="Work Sans"/>
              </a:rPr>
              <a:t>AGENTIC SYSTEM 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FFFFFF"/>
                </a:solidFill>
                <a:latin typeface="Work Sans"/>
              </a:rPr>
              <a:t>How the system </a:t>
            </a:r>
            <a:r>
              <a:rPr sz="2800" b="1">
                <a:solidFill>
                  <a:srgbClr val="FFAA22"/>
                </a:solidFill>
                <a:latin typeface="Work Sans"/>
              </a:rPr>
              <a:t>routes a request</a:t>
            </a:r>
            <a:r>
              <a:rPr sz="2800" b="1">
                <a:solidFill>
                  <a:srgbClr val="FFFFFF"/>
                </a:solidFill>
                <a:latin typeface="Work Sans"/>
              </a:rPr>
              <a:t> — top to output</a:t>
            </a:r>
          </a:p>
        </p:txBody>
      </p:sp>
      <p:pic>
        <p:nvPicPr>
          <p:cNvPr id="4" name="Picture 3" descr="system-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047" y="1600200"/>
            <a:ext cx="6705600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250">
                <a:solidFill>
                  <a:srgbClr val="8686A0"/>
                </a:solidFill>
                <a:latin typeface="Work Sans"/>
              </a:rPr>
              <a:t>ROOT  →  DOMAIN  →  SUBDOMAIN  →  EXECUTORS  →  OUTPUT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15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220">
                <a:solidFill>
                  <a:srgbClr val="FFAA22"/>
                </a:solidFill>
                <a:latin typeface="Work Sans"/>
              </a:rPr>
              <a:t>SCAN TO CONNECT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4300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600" b="1">
                <a:solidFill>
                  <a:srgbClr val="FFFFFF"/>
                </a:solidFill>
                <a:latin typeface="Work Sans"/>
              </a:rPr>
              <a:t>Take this </a:t>
            </a:r>
            <a:r>
              <a:rPr sz="4600" b="1">
                <a:solidFill>
                  <a:srgbClr val="FFAA22"/>
                </a:solidFill>
                <a:latin typeface="Work Sans"/>
              </a:rPr>
              <a:t>home with you</a:t>
            </a:r>
            <a:r>
              <a:rPr sz="4600" b="1">
                <a:solidFill>
                  <a:srgbClr val="FFFFFF"/>
                </a:solidFill>
                <a:latin typeface="Work Sans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031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>
                <a:solidFill>
                  <a:srgbClr val="B7B7CC"/>
                </a:solidFill>
                <a:latin typeface="Work Sans"/>
              </a:rPr>
              <a:t>Explore the workspace, or stay in touch.</a:t>
            </a:r>
          </a:p>
        </p:txBody>
      </p:sp>
      <p:sp>
        <p:nvSpPr>
          <p:cNvPr id="5" name="Rectangle 4"/>
          <p:cNvSpPr/>
          <p:nvPr/>
        </p:nvSpPr>
        <p:spPr>
          <a:xfrm>
            <a:off x="929487" y="2926080"/>
            <a:ext cx="4937760" cy="3474720"/>
          </a:xfrm>
          <a:prstGeom prst="rect">
            <a:avLst/>
          </a:prstGeom>
          <a:solidFill>
            <a:srgbClr val="1A259A"/>
          </a:solidFill>
          <a:ln w="9525">
            <a:solidFill>
              <a:srgbClr val="4C6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118207" y="3291840"/>
            <a:ext cx="2560320" cy="2560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githubQRc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1087" y="3474720"/>
            <a:ext cx="2194560" cy="21945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03807" y="608076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240">
                <a:solidFill>
                  <a:srgbClr val="FFAA22"/>
                </a:solidFill>
                <a:latin typeface="Work Sans"/>
              </a:rPr>
              <a:t>GITHUB REPO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3807" y="6355080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000" b="1">
                <a:solidFill>
                  <a:srgbClr val="FFFFFF"/>
                </a:solidFill>
                <a:latin typeface="Work Sans"/>
              </a:rPr>
              <a:t>cerkl-claude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24447" y="2926080"/>
            <a:ext cx="4937760" cy="3474720"/>
          </a:xfrm>
          <a:prstGeom prst="rect">
            <a:avLst/>
          </a:prstGeom>
          <a:solidFill>
            <a:srgbClr val="1A259A"/>
          </a:solidFill>
          <a:ln w="9525">
            <a:solidFill>
              <a:srgbClr val="4C6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513167" y="3291840"/>
            <a:ext cx="2560320" cy="2560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linkedinQRc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6047" y="3474720"/>
            <a:ext cx="2194560" cy="21945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598767" y="608076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240">
                <a:solidFill>
                  <a:srgbClr val="FFAA22"/>
                </a:solidFill>
                <a:latin typeface="Work Sans"/>
              </a:rPr>
              <a:t>LINKEDIN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98767" y="6355080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000" b="1">
                <a:solidFill>
                  <a:srgbClr val="FFFFFF"/>
                </a:solidFill>
                <a:latin typeface="Work Sans"/>
              </a:rPr>
              <a:t>Travis Foster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4465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spc="200">
                <a:solidFill>
                  <a:srgbClr val="8686A0"/>
                </a:solidFill>
                <a:latin typeface="Work Sans"/>
              </a:rPr>
              <a:t>CERKL · HEAD OF MARKETING &amp; GROWTH OPS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